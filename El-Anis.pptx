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61" r:id="rId3"/>
    <p:sldId id="262" r:id="rId5"/>
    <p:sldId id="263" r:id="rId6"/>
    <p:sldId id="264" r:id="rId7"/>
    <p:sldId id="265" r:id="rId8"/>
    <p:sldId id="266" r:id="rId9"/>
    <p:sldId id="268" r:id="rId10"/>
    <p:sldId id="269" r:id="rId11"/>
    <p:sldId id="267" r:id="rId12"/>
    <p:sldId id="270" r:id="rId13"/>
  </p:sldIdLst>
  <p:sldSz cx="12192000" cy="6858000"/>
  <p:notesSz cx="6858000" cy="9144000"/>
  <p:embeddedFontLst>
    <p:embeddedFont>
      <p:font typeface="Calibri" panose="020F0502020204030204"/>
      <p:regular r:id="rId18"/>
      <p:bold r:id="rId19"/>
    </p:embeddedFont>
    <p:embeddedFont>
      <p:font typeface="Calibri" panose="020F050202020403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954"/>
    <a:srgbClr val="0FAB7D"/>
    <a:srgbClr val="336EA8"/>
    <a:srgbClr val="D7B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" name="Google Shape;50;p18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4" name="Google Shape;64;p20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66" name="Google Shape;66;p20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1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7" name="Google Shape;17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pn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</a:pPr>
            <a:r>
              <a:rPr lang="en-US" altLang="en-US" sz="48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El-Anis</a:t>
            </a:r>
            <a:br>
              <a:rPr lang="en-US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Smart Elderly Care Platform</a:t>
            </a:r>
            <a:endParaRPr lang="en-US" altLang="en-US" sz="20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1" name="Google Shape;161;p6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solidFill>
                  <a:srgbClr val="D7B119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Presenter's</a:t>
            </a:r>
            <a:r>
              <a:rPr lang="en-US" b="1">
                <a:ln w="15875">
                  <a:solidFill>
                    <a:schemeClr val="accent1"/>
                  </a:solidFill>
                </a:ln>
                <a:solidFill>
                  <a:srgbClr val="D7B119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b="1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Ahmed Hany</a:t>
            </a:r>
            <a:br>
              <a:rPr lang="en-US" b="1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b="1">
                <a:solidFill>
                  <a:srgbClr val="D7B119"/>
                </a:solidFill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 </a:t>
            </a:r>
            <a:r>
              <a:rPr lang="en-US" b="1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5-12-2025</a:t>
            </a:r>
            <a:endParaRPr lang="en-US" altLang="en-US" b="1">
              <a:solidFill>
                <a:srgbClr val="0D0D0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" name="Google Shape;16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163" name="Google Shape;163;p6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9010943" y="638129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type="title"/>
          </p:nvPr>
        </p:nvSpPr>
        <p:spPr>
          <a:xfrm>
            <a:off x="4872355" y="1052830"/>
            <a:ext cx="6607175" cy="47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altLang="en-US" sz="2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Idea :</a:t>
            </a:r>
            <a:r>
              <a:rPr lang="en-US" altLang="en-US" sz="2200"/>
              <a:t> </a:t>
            </a:r>
            <a:br>
              <a:rPr lang="en-US" altLang="en-US" sz="2400"/>
            </a:br>
            <a:r>
              <a:rPr lang="en-US" altLang="en-US" sz="2000" b="1">
                <a:solidFill>
                  <a:srgbClr val="336EA8"/>
                </a:solidFill>
              </a:rPr>
              <a:t>El-Anis</a:t>
            </a:r>
            <a:r>
              <a:rPr lang="en-US" altLang="en-US" sz="2400"/>
              <a:t> </a:t>
            </a:r>
            <a:r>
              <a:rPr lang="en-US" altLang="en-US" sz="1600" b="1"/>
              <a:t>is a digital platform offering home care services for the elderly, providing access to housekeepers, nurses, and caregivers through easy booking and on-demand requests.</a:t>
            </a:r>
            <a:br>
              <a:rPr lang="en-US" altLang="en-US" sz="1600" b="1"/>
            </a:br>
            <a:r>
              <a:rPr lang="en-US" altLang="en-US" sz="2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Brief Description of the Problem Being Solved</a:t>
            </a:r>
            <a:r>
              <a:rPr lang="ar-EG" altLang="en-US" sz="2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ar-EG" sz="2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br>
              <a:rPr lang="en-US" altLang="ar-EG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ar-EG" sz="1300" b="1"/>
              <a:t>1-</a:t>
            </a:r>
            <a:r>
              <a:rPr lang="en-US" altLang="en-US" sz="1300" b="1"/>
              <a:t>Lack of reliable and accessible home care services for older adults.</a:t>
            </a:r>
            <a:br>
              <a:rPr lang="en-US" altLang="en-US" sz="1300" b="1"/>
            </a:br>
            <a:r>
              <a:rPr lang="en-US" altLang="en-US" sz="1300" b="1"/>
              <a:t>2-Difficulty finding certified and reliable caregivers and nurses.</a:t>
            </a:r>
            <a:br>
              <a:rPr lang="en-US" altLang="en-US" sz="1300" b="1"/>
            </a:br>
            <a:r>
              <a:rPr lang="en-US" altLang="en-US" sz="1300" b="1"/>
              <a:t>3-Lack of a unified platform that provides these needs to families.</a:t>
            </a:r>
            <a:br>
              <a:rPr lang="en-US" altLang="en-US" sz="1300" b="1"/>
            </a:br>
            <a:r>
              <a:rPr lang="en-US" altLang="en-US" sz="1300" b="1"/>
              <a:t>4-Older adults and their relatives suffer from stress due to the lack of regular care.</a:t>
            </a:r>
            <a:br>
              <a:rPr lang="en-US" altLang="en-US" sz="1300" b="1"/>
            </a:br>
            <a:r>
              <a:rPr lang="en-US" altLang="en-US" sz="2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Overview of the proposed solution :</a:t>
            </a:r>
            <a:br>
              <a:rPr lang="en-US" altLang="en-US" sz="27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2200" b="1">
                <a:solidFill>
                  <a:srgbClr val="336EA8"/>
                </a:solidFill>
              </a:rPr>
              <a:t>El Anis offers :</a:t>
            </a:r>
            <a:br>
              <a:rPr lang="en-US" altLang="en-US" sz="1200" b="1"/>
            </a:br>
            <a:r>
              <a:rPr lang="en-US" altLang="en-US" sz="1300" b="1"/>
              <a:t>1-An easy-to-use platform for booking nurses, housekeepers, and specialized caregivers.</a:t>
            </a:r>
            <a:br>
              <a:rPr lang="en-US" altLang="en-US" sz="1300" b="1"/>
            </a:br>
            <a:r>
              <a:rPr lang="en-US" altLang="en-US" sz="1300" b="1"/>
              <a:t>2-A professional, trained workforce with verified reliability.</a:t>
            </a:r>
            <a:br>
              <a:rPr lang="en-US" altLang="en-US" sz="1300" b="1"/>
            </a:br>
            <a:r>
              <a:rPr lang="en-US" altLang="en-US" sz="1300" b="1"/>
              <a:t>3-Transparent service ratings and genuine user reviews.</a:t>
            </a:r>
            <a:br>
              <a:rPr lang="en-US" altLang="en-US" sz="1300" b="1"/>
            </a:br>
            <a:r>
              <a:rPr lang="en-US" altLang="en-US" sz="1300" b="1"/>
              <a:t>4-24/7 customer support and service guarantees.</a:t>
            </a:r>
            <a:br>
              <a:rPr lang="en-US" altLang="en-US" sz="1300" b="1"/>
            </a:br>
            <a:r>
              <a:rPr lang="en-US" altLang="en-US" sz="1300" b="1"/>
              <a:t>5-Clear pricing with no hidden fees.</a:t>
            </a:r>
            <a:br>
              <a:rPr lang="en-US" altLang="en-US" sz="1300" b="1"/>
            </a:br>
            <a:r>
              <a:rPr lang="en-US" altLang="en-US" sz="2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Unique value proposition :</a:t>
            </a:r>
            <a:br>
              <a:rPr lang="en-US" altLang="en-US" sz="2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300" b="1"/>
              <a:t>1-Intense focus on unique elderly care services in the Egyptian market, home nursing, and more</a:t>
            </a:r>
            <a:br>
              <a:rPr lang="en-US" altLang="en-US" sz="1300" b="1"/>
            </a:br>
            <a:r>
              <a:rPr lang="en-US" altLang="en-US" sz="1300" b="1"/>
              <a:t>2-Selection process with certificates, official documents, and rigorous training for high-quality caregivers</a:t>
            </a:r>
            <a:br>
              <a:rPr lang="en-US" altLang="en-US" sz="1300" b="1"/>
            </a:br>
            <a:r>
              <a:rPr lang="en-US" altLang="en-US" sz="1300" b="1"/>
              <a:t>3-Easy-to-use platform designed for elderly users and their families</a:t>
            </a:r>
            <a:br>
              <a:rPr lang="en-US" altLang="en-US" sz="1300" b="1"/>
            </a:br>
            <a:r>
              <a:rPr lang="en-US" altLang="en-US" sz="1300" b="1"/>
              <a:t>4-Instant or scheduled bookings with comprehensive service options</a:t>
            </a:r>
            <a:br>
              <a:rPr lang="en-US" altLang="en-US" sz="1300" b="1"/>
            </a:br>
            <a:r>
              <a:rPr lang="en-US" altLang="en-US" sz="1300" b="1"/>
              <a:t>5-Trust and security guaranteed thanks to transparent reviews and insurance coverage</a:t>
            </a:r>
            <a:endParaRPr lang="en-US" altLang="en-US" sz="1300" b="1"/>
          </a:p>
        </p:txBody>
      </p:sp>
      <p:sp>
        <p:nvSpPr>
          <p:cNvPr id="171" name="Google Shape;171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172" name="Google Shape;172;p7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2" name="Picture 1" descr="Land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" y="1701165"/>
            <a:ext cx="3878580" cy="3099435"/>
          </a:xfrm>
          <a:prstGeom prst="rect">
            <a:avLst/>
          </a:prstGeom>
        </p:spPr>
      </p:pic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49043" y="6356529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>
            <p:ph type="title"/>
          </p:nvPr>
        </p:nvSpPr>
        <p:spPr>
          <a:xfrm>
            <a:off x="4151630" y="980440"/>
            <a:ext cx="4001135" cy="4752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Wireframe &amp; User Journey :</a:t>
            </a:r>
            <a:r>
              <a:rPr lang="ar-EG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</a:t>
            </a:r>
            <a:br>
              <a:rPr lang="en-US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11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 representation of key user interfaces</a:t>
            </a:r>
            <a:br>
              <a:rPr lang="en-US" altLang="en-US" sz="111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000" b="1">
                <a:solidFill>
                  <a:srgbClr val="336EA8"/>
                </a:solidFill>
              </a:rPr>
              <a:t>1-Homepage / Landing</a:t>
            </a:r>
            <a:br>
              <a:rPr lang="en-US" altLang="en-US" sz="800" b="1"/>
            </a:br>
            <a:r>
              <a:rPr lang="en-US" altLang="en-US" sz="900" b="1"/>
              <a:t>- Platform logo and short tagline about elderly and home care services</a:t>
            </a:r>
            <a:br>
              <a:rPr lang="en-US" altLang="en-US" sz="900" b="1"/>
            </a:br>
            <a:r>
              <a:rPr lang="en-US" altLang="en-US" sz="900" b="1"/>
              <a:t>- Main search bar with filters (location, price range, service type)</a:t>
            </a:r>
            <a:br>
              <a:rPr lang="en-US" altLang="en-US" sz="900" b="1"/>
            </a:br>
            <a:r>
              <a:rPr lang="en-US" altLang="en-US" sz="900" b="1"/>
              <a:t>- Quick links to “Become a Service Provider”, “How it Works”, and “Support”</a:t>
            </a:r>
            <a:br>
              <a:rPr lang="en-US" altLang="en-US" sz="900" b="1"/>
            </a:br>
            <a:r>
              <a:rPr lang="en-US" altLang="en-US" sz="1000" b="1">
                <a:solidFill>
                  <a:srgbClr val="336EA8"/>
                </a:solidFill>
              </a:rPr>
              <a:t>2-Service Search &amp; Filter Page</a:t>
            </a:r>
            <a:br>
              <a:rPr lang="en-US" altLang="en-US" sz="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altLang="en-US" sz="900" b="1">
                <a:effectLst/>
              </a:rPr>
              <a:t>- </a:t>
            </a:r>
            <a:r>
              <a:rPr lang="en-US" altLang="en-US" sz="900" b="1"/>
              <a:t>Filters: City/Area, price range, service category (Nursing, Housekeeper, Childcare, Elderly Care)</a:t>
            </a:r>
            <a:br>
              <a:rPr lang="en-US" altLang="en-US" sz="900" b="1"/>
            </a:br>
            <a:r>
              <a:rPr lang="en-US" altLang="en-US" sz="900" b="1"/>
              <a:t>- List of service providers as cards (photo, name, rating, price, short description)</a:t>
            </a:r>
            <a:br>
              <a:rPr lang="en-US" altLang="en-US" sz="900" b="1"/>
            </a:br>
            <a:r>
              <a:rPr lang="en-US" altLang="en-US" sz="900" b="1"/>
              <a:t>- Sorting options (by rating, price, distance)</a:t>
            </a:r>
            <a:br>
              <a:rPr lang="en-US" altLang="en-US" sz="900" b="1"/>
            </a:br>
            <a:r>
              <a:rPr lang="en-US" altLang="en-US" sz="1000" b="1">
                <a:solidFill>
                  <a:srgbClr val="336EA8"/>
                </a:solidFill>
              </a:rPr>
              <a:t>3-Service Provider Profile Page</a:t>
            </a:r>
            <a:br>
              <a:rPr lang="en-US" altLang="en-US" sz="800" b="1"/>
            </a:br>
            <a:r>
              <a:rPr lang="en-US" altLang="en-US" sz="900" b="1"/>
              <a:t>- Provider photo, name, role (nurse, housekeeper, caregiver, babysitter)</a:t>
            </a:r>
            <a:br>
              <a:rPr lang="en-US" altLang="en-US" sz="900" b="1"/>
            </a:br>
            <a:r>
              <a:rPr lang="en-US" altLang="en-US" sz="900" b="1"/>
              <a:t>- Qualifications, years of experience, service description, availability</a:t>
            </a:r>
            <a:br>
              <a:rPr lang="en-US" altLang="en-US" sz="900" b="1"/>
            </a:br>
            <a:r>
              <a:rPr lang="en-US" altLang="en-US" sz="900" b="1"/>
              <a:t>- Rating (stars) and user reviews section</a:t>
            </a:r>
            <a:br>
              <a:rPr lang="en-US" altLang="en-US" sz="900" b="1"/>
            </a:br>
            <a:r>
              <a:rPr lang="en-US" altLang="en-US" sz="900" b="1"/>
              <a:t>- “Send Service Request” button and basic price info</a:t>
            </a:r>
            <a:br>
              <a:rPr lang="en-US" altLang="en-US" sz="900" b="1"/>
            </a:br>
            <a:r>
              <a:rPr lang="en-US" altLang="en-US" sz="1000" b="1">
                <a:solidFill>
                  <a:srgbClr val="336EA8"/>
                </a:solidFill>
              </a:rPr>
              <a:t>4-Customer Dashboard</a:t>
            </a:r>
            <a:br>
              <a:rPr lang="en-US" altLang="en-US" sz="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altLang="en-US" sz="900" b="1">
                <a:effectLst/>
              </a:rPr>
              <a:t>- </a:t>
            </a:r>
            <a:r>
              <a:rPr lang="en-US" altLang="en-US" sz="900" b="1"/>
              <a:t>Active requests and upcoming bookings</a:t>
            </a:r>
            <a:br>
              <a:rPr lang="en-US" altLang="en-US" sz="900" b="1"/>
            </a:br>
            <a:r>
              <a:rPr lang="en-US" altLang="en-US" sz="900" b="1"/>
              <a:t>- Request and booking history</a:t>
            </a:r>
            <a:br>
              <a:rPr lang="en-US" altLang="en-US" sz="900" b="1"/>
            </a:br>
            <a:r>
              <a:rPr lang="en-US" altLang="en-US" sz="900" b="1"/>
              <a:t>-“My Reviews”, “My Complaints”, and “Support” sections</a:t>
            </a:r>
            <a:br>
              <a:rPr lang="en-US" altLang="en-US" sz="900" b="1"/>
            </a:br>
            <a:r>
              <a:rPr lang="en-US" altLang="en-US" sz="1000" b="1">
                <a:solidFill>
                  <a:srgbClr val="336EA8"/>
                </a:solidFill>
              </a:rPr>
              <a:t>5-Service Provider Dashboard</a:t>
            </a:r>
            <a:br>
              <a:rPr lang="en-US" altLang="en-US" sz="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altLang="en-US" sz="900" b="1">
                <a:effectLst/>
              </a:rPr>
              <a:t>- </a:t>
            </a:r>
            <a:r>
              <a:rPr lang="en-US" altLang="en-US" sz="900" b="1"/>
              <a:t>Incoming service requests with customer and service details</a:t>
            </a:r>
            <a:br>
              <a:rPr lang="en-US" altLang="en-US" sz="900" b="1"/>
            </a:br>
            <a:r>
              <a:rPr lang="en-US" altLang="en-US" sz="900" b="1"/>
              <a:t>- Buttons: Accept, Decline, Ask for changes/negotiation</a:t>
            </a:r>
            <a:br>
              <a:rPr lang="en-US" altLang="en-US" sz="900" b="1"/>
            </a:br>
            <a:r>
              <a:rPr lang="en-US" altLang="en-US" sz="900" b="1"/>
              <a:t>- Current jobs and completed jobs list</a:t>
            </a:r>
            <a:br>
              <a:rPr lang="en-US" altLang="en-US" sz="900" b="1"/>
            </a:br>
            <a:r>
              <a:rPr lang="en-US" altLang="en-US" sz="900" b="1"/>
              <a:t>- Earnings overview and profile management</a:t>
            </a:r>
            <a:br>
              <a:rPr lang="en-US" altLang="en-US" sz="900" b="1"/>
            </a:br>
            <a:r>
              <a:rPr lang="en-US" altLang="en-US" sz="11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Customer journey :</a:t>
            </a:r>
            <a:br>
              <a:rPr lang="en-US" altLang="en-US" sz="11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1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n-US" altLang="en-US" sz="900" b="1"/>
              <a:t>User signs up or logs in as a customer</a:t>
            </a:r>
            <a:br>
              <a:rPr lang="en-US" altLang="en-US" sz="900" b="1"/>
            </a:br>
            <a:r>
              <a:rPr lang="en-US" altLang="en-US" sz="900" b="1"/>
              <a:t>- User opens the search page and applies filters (location, price range, service type)</a:t>
            </a:r>
            <a:br>
              <a:rPr lang="en-US" altLang="en-US" sz="900" b="1"/>
            </a:br>
            <a:r>
              <a:rPr lang="en-US" altLang="en-US" sz="900" b="1"/>
              <a:t>- User browses the list of providers and opens provider profiles</a:t>
            </a:r>
            <a:br>
              <a:rPr lang="en-US" altLang="en-US" sz="900" b="1"/>
            </a:br>
            <a:r>
              <a:rPr lang="en-US" altLang="en-US" sz="900" b="1"/>
              <a:t>- User selects a suitable provider and clicks “Send Service Request”</a:t>
            </a:r>
            <a:br>
              <a:rPr lang="en-US" altLang="en-US" sz="900" b="1"/>
            </a:br>
            <a:r>
              <a:rPr lang="en-US" altLang="en-US" sz="900" b="1"/>
              <a:t>- User specifies required service details (type, date, time, duration, notes)</a:t>
            </a:r>
            <a:br>
              <a:rPr lang="en-US" altLang="en-US" sz="900" b="1"/>
            </a:br>
            <a:r>
              <a:rPr lang="en-US" altLang="en-US" sz="900" b="1"/>
              <a:t>- Request is sent and shown as “Pending” while waiting for provider response</a:t>
            </a:r>
            <a:br>
              <a:rPr lang="en-US" altLang="en-US" sz="900" b="1"/>
            </a:br>
            <a:r>
              <a:rPr lang="en-US" altLang="en-US" sz="900" b="1"/>
              <a:t>- Provider accepts or negotiates the request based on availability</a:t>
            </a:r>
            <a:br>
              <a:rPr lang="en-US" altLang="en-US" sz="900" b="1"/>
            </a:br>
            <a:r>
              <a:rPr lang="en-US" altLang="en-US" sz="900" b="1"/>
              <a:t>- Customer and provider finalize details, then the customer proceeds to payment</a:t>
            </a:r>
            <a:br>
              <a:rPr lang="en-US" altLang="en-US" sz="900" b="1"/>
            </a:br>
            <a:r>
              <a:rPr lang="en-US" altLang="en-US" sz="900" b="1"/>
              <a:t>- Booking is confirmed and appears in the customer dashboard</a:t>
            </a:r>
            <a:br>
              <a:rPr lang="en-US" altLang="en-US" sz="900" b="1"/>
            </a:br>
            <a:r>
              <a:rPr lang="en-US" altLang="en-US" sz="900" b="1"/>
              <a:t>- After service completion, the customer rates the provider and writes a review</a:t>
            </a:r>
            <a:br>
              <a:rPr lang="en-US" altLang="en-US" sz="900" b="1"/>
            </a:br>
            <a:r>
              <a:rPr lang="en-US" altLang="en-US" sz="900" b="1"/>
              <a:t>- If there is an issue, the customer can submit a complaint through the complaints section</a:t>
            </a:r>
            <a:br>
              <a:rPr lang="en-US" altLang="en-US" sz="900" b="1"/>
            </a:br>
            <a:br>
              <a:rPr lang="en-US" altLang="en-US" sz="800"/>
            </a:br>
            <a:endParaRPr lang="en-US" altLang="en-US" sz="800"/>
          </a:p>
        </p:txBody>
      </p:sp>
      <p:sp>
        <p:nvSpPr>
          <p:cNvPr id="181" name="Google Shape;181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182" name="Google Shape;182;p8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517" y="2063376"/>
            <a:ext cx="2645893" cy="2731245"/>
          </a:xfrm>
          <a:prstGeom prst="ellipse">
            <a:avLst/>
          </a:prstGeom>
          <a:noFill/>
          <a:ln w="63500" cap="rnd" cmpd="sng">
            <a:solidFill>
              <a:srgbClr val="336EA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Picture 1" descr="11zon_cropp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35" y="2061210"/>
            <a:ext cx="2676525" cy="273367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183880" y="836930"/>
            <a:ext cx="3679190" cy="375158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>
              <a:lnSpc>
                <a:spcPct val="90000"/>
              </a:lnSpc>
            </a:pPr>
            <a: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Focus on ease of use and user experience :</a:t>
            </a:r>
            <a:endParaRPr lang="en-US" alt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90000"/>
              </a:lnSpc>
            </a:pPr>
            <a:br>
              <a:rPr lang="en-US" alt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800" b="1"/>
              <a:t>1-Simple and clear navigation with separate views for customers and suppliers</a:t>
            </a:r>
            <a:endParaRPr lang="en-US" altLang="en-US" sz="800" b="1"/>
          </a:p>
          <a:p>
            <a:endParaRPr lang="en-US" altLang="en-US" sz="800" b="1"/>
          </a:p>
          <a:p>
            <a:r>
              <a:rPr lang="en-US" altLang="en-US" sz="800" b="1"/>
              <a:t>2-Search and filters designed to reduce the steps and time needed to find the right supplier</a:t>
            </a:r>
            <a:endParaRPr lang="en-US" altLang="en-US" sz="800" b="1"/>
          </a:p>
          <a:p>
            <a:endParaRPr lang="en-US" altLang="en-US" sz="800" b="1"/>
          </a:p>
          <a:p>
            <a:r>
              <a:rPr lang="en-US" altLang="en-US" sz="800" b="1"/>
              <a:t>3-Consistent designs across pages (cards, buttons, typography) to reduce confusion and ease of use</a:t>
            </a:r>
            <a:endParaRPr lang="en-US" altLang="en-US" sz="800" b="1"/>
          </a:p>
          <a:p>
            <a:endParaRPr lang="en-US" altLang="en-US" sz="800" b="1"/>
          </a:p>
          <a:p>
            <a:r>
              <a:rPr lang="en-US" altLang="en-US" sz="800" b="1"/>
              <a:t>4-Clear status indicators for each request (pending, accepted, active, completed)</a:t>
            </a:r>
            <a:endParaRPr lang="en-US" altLang="en-US" sz="800" b="1"/>
          </a:p>
          <a:p>
            <a:endParaRPr lang="en-US" altLang="en-US" sz="800" b="1"/>
          </a:p>
          <a:p>
            <a:r>
              <a:rPr lang="en-US" altLang="en-US" sz="800" b="1"/>
              <a:t>5-Powerful feedback mechanisms: section for ratings, reviews, and complaints for transparency and trust</a:t>
            </a:r>
            <a:endParaRPr lang="en-US" altLang="en-US" sz="800" b="1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8976653" y="6356529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4871720" y="1052830"/>
            <a:ext cx="6863080" cy="498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1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charset="0"/>
                <a:ea typeface="Arial" panose="020B0604020202020204"/>
                <a:cs typeface="Calibri" panose="020F0502020204030204" charset="0"/>
                <a:sym typeface="Arial" panose="020B0604020202020204"/>
              </a:rPr>
              <a:t>Primary</a:t>
            </a:r>
            <a:r>
              <a:rPr lang="en-US" altLang="en-US" sz="1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users :</a:t>
            </a:r>
            <a:br>
              <a:rPr lang="en-US" altLang="en-US" sz="900" b="1"/>
            </a:br>
            <a:r>
              <a:rPr lang="en-US" altLang="en-US" sz="1200" b="1">
                <a:solidFill>
                  <a:srgbClr val="336EA8"/>
                </a:solidFill>
              </a:rPr>
              <a:t>Elderly people, family members, and children</a:t>
            </a:r>
            <a:r>
              <a:rPr lang="en-US" altLang="en-US" sz="1000" b="1"/>
              <a:t> — need reliable home care from certified professionals</a:t>
            </a:r>
            <a:br>
              <a:rPr lang="en-US" altLang="en-US" sz="1000" b="1"/>
            </a:br>
            <a:r>
              <a:rPr lang="en-US" altLang="en-US" sz="1200" b="1">
                <a:solidFill>
                  <a:srgbClr val="336EA8"/>
                </a:solidFill>
              </a:rPr>
              <a:t>Service providers (nurses, maids)</a:t>
            </a:r>
            <a:r>
              <a:rPr lang="en-US" altLang="en-US" sz="1000" b="1"/>
              <a:t> — need consistent access to clients and guaranteed payments</a:t>
            </a:r>
            <a:br>
              <a:rPr lang="en-US" altLang="en-US" sz="1000" b="1"/>
            </a:br>
            <a:r>
              <a:rPr lang="en-US" altLang="en-US" sz="1200" b="1">
                <a:solidFill>
                  <a:srgbClr val="336EA8"/>
                </a:solidFill>
              </a:rPr>
              <a:t>Healthcare organizations</a:t>
            </a:r>
            <a:r>
              <a:rPr lang="en-US" altLang="en-US" sz="1200" b="1"/>
              <a:t> </a:t>
            </a:r>
            <a:r>
              <a:rPr lang="en-US" altLang="en-US" sz="1000" b="1"/>
              <a:t>— need quick access to qualified temporary staff</a:t>
            </a:r>
            <a:br>
              <a:rPr lang="en-US" altLang="en-US" sz="1000" b="1"/>
            </a:br>
            <a:br>
              <a:rPr lang="en-US" altLang="en-US" sz="1000" b="1"/>
            </a:br>
            <a:r>
              <a:rPr lang="en-US" altLang="en-US" sz="1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Features :</a:t>
            </a:r>
            <a:br>
              <a:rPr lang="en-US" altLang="en-US" sz="1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US" sz="1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</a:t>
            </a:r>
            <a:r>
              <a:rPr lang="en-US" altLang="en-US" sz="1000" b="1"/>
              <a:t>Advanced search &amp; filtering (location, price, service type)</a:t>
            </a:r>
            <a:br>
              <a:rPr lang="en-US" altLang="en-US" sz="1000" b="1"/>
            </a:br>
            <a:r>
              <a:rPr lang="en-US" altLang="en-US" sz="1000" b="1"/>
              <a:t>- Provider verification &amp; qualifications display</a:t>
            </a:r>
            <a:br>
              <a:rPr lang="en-US" altLang="en-US" sz="1000" b="1"/>
            </a:br>
            <a:r>
              <a:rPr lang="en-US" altLang="en-US" sz="1000" b="1"/>
              <a:t>- Rating &amp; review system for transparency</a:t>
            </a:r>
            <a:br>
              <a:rPr lang="en-US" altLang="en-US" sz="1000" b="1"/>
            </a:br>
            <a:r>
              <a:rPr lang="en-US" altLang="en-US" sz="1000" b="1"/>
              <a:t>- Secure service request &amp; payment processing</a:t>
            </a:r>
            <a:br>
              <a:rPr lang="en-US" altLang="en-US" sz="1000" b="1"/>
            </a:br>
            <a:r>
              <a:rPr lang="en-US" altLang="en-US" sz="1000" b="1"/>
              <a:t>- Complaints &amp; support section</a:t>
            </a:r>
            <a:br>
              <a:rPr lang="en-US" altLang="en-US" sz="1000" b="1"/>
            </a:br>
            <a:r>
              <a:rPr lang="en-US" altLang="en-US" sz="1000" b="1"/>
              <a:t>- Provider dashboard with real-time notifications</a:t>
            </a:r>
            <a:br>
              <a:rPr lang="en-US" altLang="en-US" sz="1000" b="1"/>
            </a:br>
            <a:br>
              <a:rPr lang="en-US" altLang="en-US" sz="1000" b="1"/>
            </a:br>
            <a:r>
              <a:rPr lang="en-US" altLang="en-US" sz="1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Features Solve User Problems :</a:t>
            </a:r>
            <a:br>
              <a:rPr lang="en-US" altLang="en-US" sz="1000" b="1"/>
            </a:br>
            <a:r>
              <a:rPr lang="en-US" altLang="en-US" sz="1200" b="1">
                <a:solidFill>
                  <a:srgbClr val="336EA8"/>
                </a:solidFill>
              </a:rPr>
              <a:t>For elderly and families</a:t>
            </a:r>
            <a:r>
              <a:rPr lang="en-US" altLang="en-US" sz="1400" b="1">
                <a:solidFill>
                  <a:srgbClr val="336EA8"/>
                </a:solidFill>
              </a:rPr>
              <a:t>:</a:t>
            </a:r>
            <a:r>
              <a:rPr lang="en-US" altLang="en-US" sz="1000" b="1">
                <a:solidFill>
                  <a:srgbClr val="336EA8"/>
                </a:solidFill>
              </a:rPr>
              <a:t> </a:t>
            </a:r>
            <a:r>
              <a:rPr lang="en-US" altLang="en-US" sz="1000" b="1"/>
              <a:t>make it easy to find and trust the right caregiver, reduce search time, and give transparency through ratings and reviews.</a:t>
            </a:r>
            <a:br>
              <a:rPr lang="en-US" altLang="en-US" sz="1000" b="1"/>
            </a:br>
            <a:r>
              <a:rPr lang="en-US" altLang="en-US" sz="1200" b="1">
                <a:solidFill>
                  <a:srgbClr val="336EA8"/>
                </a:solidFill>
              </a:rPr>
              <a:t>For service providers:</a:t>
            </a:r>
            <a:r>
              <a:rPr lang="en-US" altLang="en-US" sz="1000" b="1"/>
              <a:t> simplify finding clients, ensure safer and clearer payments, and help them build a strong reputation.</a:t>
            </a:r>
            <a:br>
              <a:rPr lang="en-US" altLang="en-US" sz="1000" b="1"/>
            </a:br>
            <a:r>
              <a:rPr lang="en-US" altLang="en-US" sz="1400" b="1">
                <a:solidFill>
                  <a:srgbClr val="336EA8"/>
                </a:solidFill>
              </a:rPr>
              <a:t>For institutions:</a:t>
            </a:r>
            <a:r>
              <a:rPr lang="en-US" altLang="en-US" sz="1000" b="1"/>
              <a:t> enable fast discovery and booking of vetted professionals during staff shortages.</a:t>
            </a:r>
            <a:endParaRPr lang="en-US" altLang="en-US" sz="1000" b="1"/>
          </a:p>
        </p:txBody>
      </p:sp>
      <p:sp>
        <p:nvSpPr>
          <p:cNvPr id="192" name="Google Shape;192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193" name="Google Shape;193;p9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60605" y="1932029"/>
            <a:ext cx="4218798" cy="2871465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pic>
        <p:nvPicPr>
          <p:cNvPr id="1" name="Picture 0" descr="حط"/>
          <p:cNvPicPr>
            <a:picLocks noChangeAspect="1"/>
          </p:cNvPicPr>
          <p:nvPr/>
        </p:nvPicPr>
        <p:blipFill>
          <a:blip r:embed="rId1"/>
          <a:srcRect l="3506" r="-767" b="2742"/>
          <a:stretch>
            <a:fillRect/>
          </a:stretch>
        </p:blipFill>
        <p:spPr>
          <a:xfrm>
            <a:off x="260350" y="1953260"/>
            <a:ext cx="4329430" cy="2850515"/>
          </a:xfrm>
          <a:prstGeom prst="rect">
            <a:avLst/>
          </a:prstGeom>
        </p:spPr>
      </p:pic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>
            <a:fillRect/>
          </a:stretch>
        </p:blipFill>
        <p:spPr>
          <a:xfrm>
            <a:off x="9011578" y="6356529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body" idx="1"/>
          </p:nvPr>
        </p:nvSpPr>
        <p:spPr>
          <a:xfrm>
            <a:off x="838200" y="1212850"/>
            <a:ext cx="10394950" cy="4964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5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Structure</a:t>
            </a:r>
            <a:r>
              <a:rPr lang="ar-EG" altLang="en-US" sz="35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ar-EG" sz="35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:</a:t>
            </a:r>
            <a:endParaRPr lang="en-US" altLang="en-US" sz="35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 u="sng">
                <a:solidFill>
                  <a:schemeClr val="accent6">
                    <a:lumMod val="75000"/>
                  </a:schemeClr>
                </a:solidFill>
              </a:rPr>
              <a:t>Database Architecture :</a:t>
            </a:r>
            <a:endParaRPr lang="en-US" altLang="en-US" sz="3000" b="1" u="sng">
              <a:solidFill>
                <a:schemeClr val="accent6">
                  <a:lumMod val="75000"/>
                </a:schemeClr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Relational SQL Server database using Entity Framework Core with a code-first approach. Normalized tables with configured relationships ensure data integrity and optimal query performance.</a:t>
            </a:r>
            <a:endParaRPr lang="en-US" altLang="en-US" b="1"/>
          </a:p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 u="sng">
                <a:solidFill>
                  <a:schemeClr val="accent6">
                    <a:lumMod val="75000"/>
                  </a:schemeClr>
                </a:solidFill>
              </a:rPr>
              <a:t>Key Entities and Main Relationships :</a:t>
            </a:r>
            <a:endParaRPr lang="en-US" altLang="en-US" sz="3000" b="1" u="sng">
              <a:solidFill>
                <a:schemeClr val="accent6">
                  <a:lumMod val="75000"/>
                </a:schemeClr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User → Service Requests, Reviews, Notifications (One-to-Many)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Service Provider Profile → Categories, Availability, Working Areas, Service Requests, Reviews (One-to-Many)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Service Request → User, Service Provider, Category, Payment (Many-to-One)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Category → Service Pricing, Provider Categories, Service Requests (One-to-Many)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Payment → Service Request (One-to-One)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Review → User, Service Provider, Service Request (Many-to-One)</a:t>
            </a:r>
            <a:endParaRPr lang="en-US" altLang="en-US" b="1"/>
          </a:p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 u="sng">
                <a:solidFill>
                  <a:schemeClr val="accent6">
                    <a:lumMod val="75000"/>
                  </a:schemeClr>
                </a:solidFill>
              </a:rPr>
              <a:t>Data Flow:</a:t>
            </a:r>
            <a:r>
              <a:rPr lang="en-US" altLang="en-US" b="1"/>
              <a:t> Collection → Storage → Access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1. Data Collection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Client application sends data through API controllers. Input validation happens via Data Transfer Objects (DTOs).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2. Data Storage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Entity Framework Core maps entities to database tables. Configuration classes define table structures and relationships. Data is normalized and stored in SQL Server.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3. Data Access</a:t>
            </a: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b="1"/>
              <a:t>LINQ queries retrieve data through Entity Framework Core. Navigation properties enable efficient related data access. Eager loading optimizes query performance.</a:t>
            </a:r>
            <a:endParaRPr lang="en-US" altLang="en-US" b="1"/>
          </a:p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 u="sng">
                <a:solidFill>
                  <a:schemeClr val="accent6">
                    <a:lumMod val="75000"/>
                  </a:schemeClr>
                </a:solidFill>
              </a:rPr>
              <a:t>Complete Pipeline:</a:t>
            </a:r>
            <a:r>
              <a:rPr lang="en-US" altLang="en-US" b="1"/>
              <a:t> Client → API → Validation (DTOs) → Business Logic → Entity Framework Core → SQL Server</a:t>
            </a:r>
            <a:endParaRPr lang="en-US" altLang="en-US" b="1"/>
          </a:p>
        </p:txBody>
      </p:sp>
      <p:sp>
        <p:nvSpPr>
          <p:cNvPr id="202" name="Google Shape;202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203" name="Google Shape;203;p10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976653" y="6356529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/>
          <p:nvPr>
            <p:ph type="body" idx="1"/>
          </p:nvPr>
        </p:nvSpPr>
        <p:spPr>
          <a:xfrm>
            <a:off x="839470" y="162877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6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Final 6: Programming Languages + Frameworks :</a:t>
            </a:r>
            <a:endParaRPr lang="en-US" altLang="en-US" sz="6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4500" b="1">
                <a:solidFill>
                  <a:srgbClr val="336EA8"/>
                </a:solidFill>
              </a:rPr>
              <a:t>Programming Languages :  </a:t>
            </a:r>
            <a:endParaRPr lang="en-US" altLang="en-US" sz="4500" b="1">
              <a:solidFill>
                <a:srgbClr val="336EA8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C# for backend business logic and API implementation.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TypeScript and JavaScript for building a dynamic, interactive frontend.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SQL for managing and querying the relational database.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4500" b="1">
                <a:solidFill>
                  <a:srgbClr val="336EA8"/>
                </a:solidFill>
              </a:rPr>
              <a:t>Frameworks and Tools  :</a:t>
            </a:r>
            <a:endParaRPr lang="en-US" altLang="en-US" sz="4500" b="1">
              <a:solidFill>
                <a:srgbClr val="336EA8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ASP.NET Core 8.0 Web API for the backend, handling authentication, bookings, payments, reviews, and admin operations.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Entity Framework Core 8.0 as the ORM layer for accessing SQL Server 2022.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ASP.NET Core Identity with JWT tokens for authentication and role-based authorization.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React 18 for the frontend user interface.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Tailwind CSS and/or Material UI for styling and responsive design.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React Router v6 for client-side routing.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Context API or Redux Toolkit for state management across the app.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en-US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4500" b="1">
                <a:solidFill>
                  <a:srgbClr val="336EA8"/>
                </a:solidFill>
              </a:rPr>
              <a:t>Supporting Technologies  :</a:t>
            </a:r>
            <a:endParaRPr lang="en-US" altLang="en-US" sz="4500" b="1">
              <a:solidFill>
                <a:srgbClr val="336EA8"/>
              </a:solidFill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Microsoft SQL Server 2022 as the main relational database.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RESTful APIs to connect web and future mobile clients with the backend services.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Payment gateway integration (e.g., Fawry, Vodafone Cash, card payments) with PCI-DSS-compliant processing and TLS 1.3 encryption.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Cloud hosting on Azure App Service or AWS, with monitoring via Application Insights.  </a:t>
            </a:r>
            <a:endParaRPr lang="en-US" altLang="en-US" sz="3000" b="1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en-US" sz="3000" b="1"/>
              <a:t>- Git and GitHub for version control, with GitHub Actions for CI/CD pipelines.</a:t>
            </a:r>
            <a:endParaRPr lang="en-US" altLang="en-US" sz="3000" b="1"/>
          </a:p>
        </p:txBody>
      </p:sp>
      <p:sp>
        <p:nvSpPr>
          <p:cNvPr id="215" name="Google Shape;215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216" name="Google Shape;216;p11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8976653" y="638129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Live Application + Test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479425" y="1700530"/>
            <a:ext cx="4619625" cy="3918585"/>
          </a:xfrm>
        </p:spPr>
        <p:txBody>
          <a:bodyPr/>
          <a:p>
            <a:pPr marL="114300" indent="0">
              <a:buNone/>
            </a:pPr>
            <a:r>
              <a:rPr lang="en-US" sz="1200" b="1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Overview of the current state of the live application :</a:t>
            </a:r>
            <a:endParaRPr lang="en-US" sz="1200" b="1">
              <a:solidFill>
                <a:srgbClr val="0D0D0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" name="Picture 4" descr="Test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988820"/>
            <a:ext cx="3046095" cy="41605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655820" y="1691005"/>
            <a:ext cx="19919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0D0D0D"/>
                </a:solidFill>
                <a:sym typeface="Arial" panose="020B0604020202020204"/>
              </a:rPr>
              <a:t>Key testing phases:</a:t>
            </a:r>
            <a:endParaRPr lang="en-US" b="1"/>
          </a:p>
        </p:txBody>
      </p:sp>
      <p:pic>
        <p:nvPicPr>
          <p:cNvPr id="7" name="Picture 6" descr="Test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455" y="1997710"/>
            <a:ext cx="3787775" cy="424688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610600" y="1682115"/>
            <a:ext cx="21005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0D0D0D"/>
                </a:solidFill>
                <a:sym typeface="Arial" panose="020B0604020202020204"/>
              </a:rPr>
              <a:t>Feedback from users:</a:t>
            </a:r>
            <a:endParaRPr lang="en-US" b="1"/>
          </a:p>
        </p:txBody>
      </p:sp>
      <p:pic>
        <p:nvPicPr>
          <p:cNvPr id="9" name="Picture 8" descr="Feedback from 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070" y="1988820"/>
            <a:ext cx="3215640" cy="4245610"/>
          </a:xfrm>
          <a:prstGeom prst="rect">
            <a:avLst/>
          </a:prstGeom>
        </p:spPr>
      </p:pic>
      <p:pic>
        <p:nvPicPr>
          <p:cNvPr id="110" name="Google Shape;110;p1"/>
          <p:cNvPicPr preferRelativeResize="0"/>
          <p:nvPr/>
        </p:nvPicPr>
        <p:blipFill>
          <a:blip r:embed="rId4"/>
          <a:srcRect/>
          <a:stretch>
            <a:fillRect/>
          </a:stretch>
        </p:blipFill>
        <p:spPr>
          <a:xfrm>
            <a:off x="9011578" y="6381929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Deliverables</a:t>
            </a:r>
            <a:endParaRPr lang="en-US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825625"/>
            <a:ext cx="10515600" cy="4398010"/>
          </a:xfrm>
        </p:spPr>
        <p:txBody>
          <a:bodyPr>
            <a:normAutofit fontScale="55000"/>
          </a:bodyPr>
          <a:p>
            <a:pPr marL="114300" indent="0">
              <a:buNone/>
            </a:pPr>
            <a:r>
              <a:rPr lang="en-US" altLang="en-US" sz="2900" b="1" u="sng">
                <a:solidFill>
                  <a:srgbClr val="336EA8"/>
                </a:solidFill>
              </a:rPr>
              <a:t>Documentation Deliverables</a:t>
            </a:r>
            <a:endParaRPr lang="en-US" altLang="en-US" sz="2900" b="1" u="sng">
              <a:solidFill>
                <a:srgbClr val="0FAB7D"/>
              </a:solidFill>
            </a:endParaRPr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Technical: </a:t>
            </a:r>
            <a:r>
              <a:rPr lang="en-US" altLang="en-US" b="1"/>
              <a:t>Technical Specification, API Documentation (Swagger), Database Schema, Architecture Diagrams, Deployment Guide, Security Report.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User</a:t>
            </a:r>
            <a:r>
              <a:rPr lang="en-US" altLang="en-US" b="1">
                <a:solidFill>
                  <a:srgbClr val="0FAB7D"/>
                </a:solidFill>
              </a:rPr>
              <a:t>:</a:t>
            </a:r>
            <a:r>
              <a:rPr lang="en-US" altLang="en-US" b="1"/>
              <a:t> User Manual, Admin Documentation, Provider Onboarding Guide, Troubleshooting &amp; FAQ.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Development:</a:t>
            </a:r>
            <a:r>
              <a:rPr lang="en-US" altLang="en-US" b="1"/>
              <a:t> Source Code Documentation, Setup Guide, Code Review Checklist, Testing Strategy, Maintenance Procedures.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 u="sng">
                <a:solidFill>
                  <a:srgbClr val="336EA8"/>
                </a:solidFill>
              </a:rPr>
              <a:t>Timeline &amp; Milestones</a:t>
            </a:r>
            <a:endParaRPr lang="en-US" altLang="en-US" b="1">
              <a:solidFill>
                <a:srgbClr val="336EA8"/>
              </a:solidFill>
            </a:endParaRPr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Week 1-2</a:t>
            </a:r>
            <a:r>
              <a:rPr lang="en-US" altLang="en-US" b="1"/>
              <a:t>: Final code review, comprehensive testing, documentation finalization, security audit.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Week 3:</a:t>
            </a:r>
            <a:r>
              <a:rPr lang="en-US" altLang="en-US" b="1"/>
              <a:t> Production deployment, database migration, SSL setup, monitoring integration.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Week 4:</a:t>
            </a:r>
            <a:r>
              <a:rPr lang="en-US" altLang="en-US" b="1"/>
              <a:t> Documentation delivery, training sessions, source code transfer, support transition.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 u="sng">
                <a:solidFill>
                  <a:srgbClr val="336EA8"/>
                </a:solidFill>
              </a:rPr>
              <a:t>Final Products</a:t>
            </a:r>
            <a:endParaRPr lang="en-US" altLang="en-US" b="1">
              <a:solidFill>
                <a:srgbClr val="336EA8"/>
              </a:solidFill>
            </a:endParaRPr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Application</a:t>
            </a:r>
            <a:r>
              <a:rPr lang="en-US" altLang="en-US" b="1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US" altLang="en-US" b="1"/>
              <a:t> Live production website, admin dashboard, mobile-responsive interface, fully functional API.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Repository</a:t>
            </a:r>
            <a:r>
              <a:rPr lang="en-US" altLang="en-US" b="1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US" altLang="en-US" b="1"/>
              <a:t> Frontend (React/TypeScript), backend (ASP.NET Core), database scripts, deployment configs, CI/CD pipeline.</a:t>
            </a:r>
            <a:endParaRPr lang="en-US" altLang="en-US" b="1"/>
          </a:p>
          <a:p>
            <a:pPr marL="114300" indent="0">
              <a:buNone/>
            </a:pPr>
            <a:r>
              <a:rPr lang="en-US" altLang="en-US" b="1">
                <a:solidFill>
                  <a:srgbClr val="047954"/>
                </a:solidFill>
              </a:rPr>
              <a:t>Setup Files</a:t>
            </a:r>
            <a:r>
              <a:rPr lang="en-US" altLang="en-US" b="1"/>
              <a:t>: Environment configurations, database backup scripts, security certificates, cloud templates.</a:t>
            </a:r>
            <a:endParaRPr lang="en-US" alt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9010943" y="638129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 lang="en-US"/>
          </a:p>
        </p:txBody>
      </p:sp>
      <p:sp>
        <p:nvSpPr>
          <p:cNvPr id="224" name="Google Shape;224;p12"/>
          <p:cNvSpPr txBox="1"/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79425" y="1196975"/>
            <a:ext cx="6256020" cy="4822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en-US"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Project Team + Roles :</a:t>
            </a:r>
            <a:endParaRPr lang="en-US" altLang="en-US" sz="1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20000"/>
              </a:lnSpc>
            </a:pPr>
            <a:endParaRPr lang="en-US" altLang="en-US" sz="900" b="1"/>
          </a:p>
          <a:p>
            <a:pPr>
              <a:lnSpc>
                <a:spcPct val="120000"/>
              </a:lnSpc>
            </a:pPr>
            <a:r>
              <a:rPr lang="en-US" altLang="en-US" sz="1600" b="1">
                <a:solidFill>
                  <a:srgbClr val="0FAB7D"/>
                </a:solidFill>
              </a:rPr>
              <a:t>Ahmed Hany Ramadan Elsayed</a:t>
            </a:r>
            <a:r>
              <a:rPr lang="en-US" altLang="en-US" sz="900" b="1"/>
              <a:t> –</a:t>
            </a:r>
            <a:r>
              <a:rPr lang="en-US" altLang="en-US" sz="1000" b="1"/>
              <a:t> </a:t>
            </a:r>
            <a:r>
              <a:rPr lang="en-US" altLang="en-US" sz="1200" b="1"/>
              <a:t>Full Stack Developer &amp; Team Leader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Leads the team, designs system architecture, and works on both frontend and backend.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600" b="1">
                <a:solidFill>
                  <a:srgbClr val="0FAB7D"/>
                </a:solidFill>
              </a:rPr>
              <a:t>Diaa Samir Abdelazeem Elsadek</a:t>
            </a:r>
            <a:r>
              <a:rPr lang="en-US" altLang="en-US" sz="16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r>
              <a:rPr lang="en-US" altLang="en-US" sz="900" b="1"/>
              <a:t>–</a:t>
            </a:r>
            <a:r>
              <a:rPr lang="en-US" altLang="en-US" sz="1200" b="1"/>
              <a:t> Frontend Developer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Builds user interfaces, implements React components, and focuses on user experience.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600" b="1">
                <a:solidFill>
                  <a:srgbClr val="0FAB7D"/>
                </a:solidFill>
              </a:rPr>
              <a:t>Ahmed Osama Samir Elsayed</a:t>
            </a:r>
            <a:r>
              <a:rPr lang="en-US" altLang="en-US" sz="900" b="1"/>
              <a:t> – </a:t>
            </a:r>
            <a:r>
              <a:rPr lang="en-US" altLang="en-US" sz="1200" b="1"/>
              <a:t>Frontend Developer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Develops responsive pages, handles state management, and integrates APIs on the client side.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600" b="1">
                <a:solidFill>
                  <a:srgbClr val="0FAB7D"/>
                </a:solidFill>
              </a:rPr>
              <a:t>Abdulrahman Ali Helmy Mohamed</a:t>
            </a:r>
            <a:r>
              <a:rPr lang="en-US" altLang="en-US" sz="900" b="1"/>
              <a:t> – </a:t>
            </a:r>
            <a:r>
              <a:rPr lang="en-US" altLang="en-US" sz="1200" b="1"/>
              <a:t>Backend Developer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Implements RESTful APIs, business logic, authentication, and database integration.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600" b="1">
                <a:solidFill>
                  <a:srgbClr val="0FAB7D"/>
                </a:solidFill>
              </a:rPr>
              <a:t>Mohamed Adel Fathy Moselhi</a:t>
            </a:r>
            <a:r>
              <a:rPr lang="en-US" altLang="en-US" sz="900" b="1"/>
              <a:t> – </a:t>
            </a:r>
            <a:r>
              <a:rPr lang="en-US" altLang="en-US" sz="1200" b="1"/>
              <a:t>Backend Developer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Works on database design, performance optimization, and core backend services.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600" b="1">
                <a:solidFill>
                  <a:srgbClr val="0FAB7D"/>
                </a:solidFill>
              </a:rPr>
              <a:t>Wafaa Mohamed Abdelhamed</a:t>
            </a:r>
            <a:r>
              <a:rPr lang="en-US" altLang="en-US" sz="900" b="1"/>
              <a:t> – </a:t>
            </a:r>
            <a:r>
              <a:rPr lang="en-US" altLang="en-US" sz="1200" b="1"/>
              <a:t>UI/UX Designer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Designs user flows, wireframes, and visual layouts, ensuring a smooth and intuitive experience.</a:t>
            </a:r>
            <a:endParaRPr lang="en-US" altLang="en-US" sz="1200" b="1"/>
          </a:p>
          <a:p>
            <a:pPr>
              <a:lnSpc>
                <a:spcPct val="120000"/>
              </a:lnSpc>
            </a:pPr>
            <a:r>
              <a:rPr lang="en-US" altLang="en-US" sz="1200" b="1"/>
              <a:t>Collaboration Methods</a:t>
            </a:r>
            <a:endParaRPr lang="en-US" altLang="en-US" sz="1200" b="1"/>
          </a:p>
          <a:p>
            <a:pPr>
              <a:lnSpc>
                <a:spcPct val="120000"/>
              </a:lnSpc>
            </a:pPr>
            <a:endParaRPr lang="en-US" altLang="en-US" sz="1200" b="1"/>
          </a:p>
        </p:txBody>
      </p:sp>
      <p:sp>
        <p:nvSpPr>
          <p:cNvPr id="4" name="Text Box 3"/>
          <p:cNvSpPr txBox="1"/>
          <p:nvPr/>
        </p:nvSpPr>
        <p:spPr>
          <a:xfrm>
            <a:off x="7464425" y="1268730"/>
            <a:ext cx="4103370" cy="425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en-US"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Communication:</a:t>
            </a:r>
            <a:r>
              <a:rPr lang="en-US" altLang="en-US" b="1">
                <a:sym typeface="+mn-ea"/>
              </a:rPr>
              <a:t> </a:t>
            </a:r>
            <a:br>
              <a:rPr lang="en-US" altLang="en-US" b="1">
                <a:sym typeface="+mn-ea"/>
              </a:rPr>
            </a:br>
            <a:r>
              <a:rPr lang="en-US" altLang="en-US" b="1">
                <a:sym typeface="+mn-ea"/>
              </a:rPr>
              <a:t>Discord server for real-time communication, voice meetings, and task discussions.​</a:t>
            </a:r>
            <a:br>
              <a:rPr lang="en-US" altLang="en-US" b="1">
                <a:sym typeface="+mn-ea"/>
              </a:rPr>
            </a:br>
            <a:endParaRPr lang="en-US" altLang="en-US" b="1"/>
          </a:p>
          <a:p>
            <a:pPr>
              <a:lnSpc>
                <a:spcPct val="120000"/>
              </a:lnSpc>
            </a:pPr>
            <a:r>
              <a:rPr lang="en-US" altLang="en-US"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Version Control:</a:t>
            </a:r>
            <a:r>
              <a:rPr lang="en-US" altLang="en-US" sz="1800" b="1">
                <a:sym typeface="+mn-ea"/>
              </a:rPr>
              <a:t> </a:t>
            </a:r>
            <a:br>
              <a:rPr lang="en-US" altLang="en-US" b="1">
                <a:sym typeface="+mn-ea"/>
              </a:rPr>
            </a:br>
            <a:r>
              <a:rPr lang="en-US" altLang="en-US" b="1">
                <a:sym typeface="+mn-ea"/>
              </a:rPr>
              <a:t>Git and GitHub for source code management and code reviews.​</a:t>
            </a:r>
            <a:br>
              <a:rPr lang="en-US" altLang="en-US" b="1">
                <a:sym typeface="+mn-ea"/>
              </a:rPr>
            </a:br>
            <a:endParaRPr lang="en-US" altLang="en-US" b="1"/>
          </a:p>
          <a:p>
            <a:pPr>
              <a:lnSpc>
                <a:spcPct val="120000"/>
              </a:lnSpc>
            </a:pPr>
            <a:r>
              <a:rPr lang="en-US" altLang="en-US" sz="1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Workflow:</a:t>
            </a:r>
            <a: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  <a:br>
              <a:rPr lang="en-US" altLang="en-US" sz="1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sym typeface="+mn-ea"/>
              </a:rPr>
              <a:t>Agile-inspired process with task boards (e.g., GitHub Projects or Trello) and regular </a:t>
            </a:r>
            <a:br>
              <a:rPr lang="en-US" altLang="en-US" b="1">
                <a:sym typeface="+mn-ea"/>
              </a:rPr>
            </a:br>
            <a:r>
              <a:rPr lang="en-US" altLang="en-US" b="1">
                <a:sym typeface="+mn-ea"/>
              </a:rPr>
              <a:t>check</a:t>
            </a:r>
            <a:r>
              <a:rPr lang="ar-EG" altLang="en-US" b="1">
                <a:sym typeface="Malgun Gothic" panose="020B0503020000020004" charset="-127"/>
              </a:rPr>
              <a:t>-</a:t>
            </a:r>
            <a:r>
              <a:rPr lang="en-US" altLang="en-US" b="1">
                <a:sym typeface="+mn-ea"/>
              </a:rPr>
              <a:t>ins.​</a:t>
            </a:r>
            <a:endParaRPr lang="en-US" altLang="en-US" b="1"/>
          </a:p>
          <a:p>
            <a:endParaRPr lang="en-US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9010943" y="638129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r>
              <a:rPr lang="en-US" b="1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 algn="ctr">
              <a:buNone/>
            </a:pPr>
            <a:r>
              <a:rPr lang="en-US" altLang="en-US" b="1"/>
              <a:t>We believe El Anis will revolutionize elderly home care services in Egypt by connecting families</a:t>
            </a:r>
            <a:br>
              <a:rPr lang="en-US" altLang="en-US" b="1"/>
            </a:br>
            <a:br>
              <a:rPr lang="en-US" altLang="en-US" b="1"/>
            </a:br>
            <a:r>
              <a:rPr lang="en-US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more information or collaboration:</a:t>
            </a:r>
            <a:endParaRPr lang="en-US" altLang="en-US" sz="2400" b="1"/>
          </a:p>
          <a:p>
            <a:pPr marL="114300" indent="0" algn="ctr">
              <a:buNone/>
            </a:pPr>
            <a:r>
              <a:rPr lang="en-US" altLang="en-US" b="1"/>
              <a:t>Email: [ahmedhanyramadan01@gmail.com]</a:t>
            </a:r>
            <a:endParaRPr lang="en-US" altLang="en-US" b="1"/>
          </a:p>
          <a:p>
            <a:pPr marL="114300" indent="0" algn="ctr">
              <a:buNone/>
            </a:pPr>
            <a:r>
              <a:rPr lang="en-US" altLang="en-US" b="1"/>
              <a:t>Phone: [+2</a:t>
            </a:r>
            <a:r>
              <a:rPr lang="ar-EG" altLang="en-US" b="1"/>
              <a:t>0</a:t>
            </a:r>
            <a:r>
              <a:rPr lang="en-US" altLang="en-US" b="1"/>
              <a:t>1027404892]</a:t>
            </a:r>
            <a:endParaRPr lang="en-US" alt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"/>
          <a:srcRect/>
          <a:stretch>
            <a:fillRect/>
          </a:stretch>
        </p:blipFill>
        <p:spPr>
          <a:xfrm>
            <a:off x="9011578" y="638129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10071</Words>
  <Application>WPS Presentation</Application>
  <PresentationFormat/>
  <Paragraphs>148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Calibri</vt:lpstr>
      <vt:lpstr>Microsoft YaHei</vt:lpstr>
      <vt:lpstr>Arial Unicode MS</vt:lpstr>
      <vt:lpstr>Al-KsorZulfiMath</vt:lpstr>
      <vt:lpstr>Malgun Gothic</vt:lpstr>
      <vt:lpstr>Office Theme</vt:lpstr>
      <vt:lpstr>El-Anis  Smart Elderly Care Platform</vt:lpstr>
      <vt:lpstr>Project Idea :  El-Anis is a digital platform offering home care services for the elderly, providing access to housekeepers, nurses, and caregivers through easy booking and on-demand requests. Brief Description of the Problem Being Solved : 1-Lack of reliable and accessible home care services for older adults. 2-Difficulty finding certified and reliable caregivers and nurses. 3-Lack of a unified platform that provides these needs to families. 4-Older adults and their relatives suffer from stress due to the lack of regular care. Overview of the proposed solution : El Anis offers : 1-An easy-to-use platform for booking nurses, housekeepers, and specialized caregivers. 2-A professional, trained workforce with verified reliability. 3-Transparent service ratings and genuine user reviews. 4-24/7 customer support and service guarantees. 5-Clear pricing with no hidden fees. Unique value proposition : 1-Intense focus on unique elderly care services in the Egyptian market, home nursing, and more 2-Selection process with certificates, official documents, and rigorous training for high-quality caregivers 3-Easy-to-use platform designed for elderly users and their families 4-Instant or scheduled bookings with comprehensive service options 5-Trust and security guaranteed thanks to transparent reviews and insurance coverage</vt:lpstr>
      <vt:lpstr>Project Wireframe &amp; User Journey :           Visual representation of key user interfaces 1-Homepage / Landing - Platform logo and short tagline about elderly and home care services - Main search bar with filters (location, price range, service type) - Quick links to “Become a Service Provider”, “How it Works”, and “Support” 2-Service Search &amp; Filter Page - Filters: City/Area, price range, service category (Nursing, Housekeeper, Childcare, Elderly Care) - List of service providers as cards (photo, name, rating, price, short description) - Sorting options (by rating, price, distance) 3-Service Provider Profile Page - Provider photo, name, role (nurse, housekeeper, caregiver, babysitter) - Qualifications, years of experience, service description, availability - Rating (stars) and user reviews section - “Send Service Request” button and basic price info 4-Customer Dashboard - Active requests and upcoming bookings - Request and booking history -“My Reviews”, “My Complaints”, and “Support” sections 5-Service Provider Dashboard - Incoming service requests with customer and service details - Buttons: Accept, Decline, Ask for changes/negotiation - Current jobs and completed jobs list - Earnings overview and profile management Customer journey : - User signs up or logs in as a customer - User opens the search page and applies filters (location, price range, service type) - User browses the list of providers and opens provider profiles - User selects a suitable provider and clicks “Send Service Request” - User specifies required service details (type, date, time, duration, notes) - Request is sent and shown as “Pending” while waiting for provider response - Provider accepts or negotiates the request based on availability - Customer and provider finalize details, then the customer proceeds to payment - Booking is confirmed and appears in the customer dashboard - After service completion, the customer rates the provider and writes a review - If there is an issue, the customer can submit a complaint through the complaints section  </vt:lpstr>
      <vt:lpstr>Primary users : Elderly people, family members, and children — need reliable home care from certified professionals Service providers (nurses, maids) — need consistent access to clients and guaranteed payments Healthcare organizations — need quick access to qualified temporary staff  Key Features : - Advanced search &amp; filtering (location, price, service type) - Provider verification &amp; qualifications display - Rating &amp; review system for transparency - Secure service request &amp; payment processing - Complaints &amp; support section - Provider dashboard with real-time notifications  How Features Solve User Problems : For elderly and families: make it easy to find and trust the right caregiver, reduce search time, and give transparency through ratings and reviews. For service providers: simplify finding clients, ensure safer and clearer payments, and help them build a strong reputation. For institutions: enable fast discovery and booking of vetted professionals during staff shortages.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</dc:creator>
  <cp:lastModifiedBy>pc</cp:lastModifiedBy>
  <cp:revision>5</cp:revision>
  <dcterms:created xsi:type="dcterms:W3CDTF">2025-11-30T16:22:00Z</dcterms:created>
  <dcterms:modified xsi:type="dcterms:W3CDTF">2025-11-30T21:00:42Z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488D25AAE1EF495DB128650BBC883909_13</vt:lpwstr>
  </property>
  <property fmtid="{D5CDD505-2E9C-101B-9397-08002B2CF9AE}" pid="3" name="KSOProductBuildVer">
    <vt:lpwstr>1033-12.2.0.23155</vt:lpwstr>
  </property>
</Properties>
</file>